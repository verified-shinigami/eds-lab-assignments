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Gagalin" charset="1" panose="00000500000000000000"/>
      <p:regular r:id="rId17"/>
    </p:embeddedFont>
    <p:embeddedFont>
      <p:font typeface="Century Gothic Paneuropean Bold" charset="1" panose="020B0702020202020204"/>
      <p:regular r:id="rId18"/>
    </p:embeddedFont>
    <p:embeddedFont>
      <p:font typeface="Playfair Display Ultra-Bold" charset="1" panose="00000000000000000000"/>
      <p:regular r:id="rId19"/>
    </p:embeddedFont>
    <p:embeddedFont>
      <p:font typeface="Century Gothic Paneuropean" charset="1" panose="020B0502020202020204"/>
      <p:regular r:id="rId20"/>
    </p:embeddedFont>
    <p:embeddedFont>
      <p:font typeface="Playfair Display Bold" charset="1" panose="00000000000000000000"/>
      <p:regular r:id="rId21"/>
    </p:embeddedFont>
    <p:embeddedFont>
      <p:font typeface="Rubik Dirt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Relationship Id="rId4" Target="../media/image8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75293" y="-621112"/>
            <a:ext cx="19317277" cy="11383653"/>
            <a:chOff x="0" y="0"/>
            <a:chExt cx="5087678" cy="29981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87678" cy="2998164"/>
            </a:xfrm>
            <a:custGeom>
              <a:avLst/>
              <a:gdLst/>
              <a:ahLst/>
              <a:cxnLst/>
              <a:rect r="r" b="b" t="t" l="l"/>
              <a:pathLst>
                <a:path h="2998164" w="5087678">
                  <a:moveTo>
                    <a:pt x="0" y="0"/>
                  </a:moveTo>
                  <a:lnTo>
                    <a:pt x="5087678" y="0"/>
                  </a:lnTo>
                  <a:lnTo>
                    <a:pt x="5087678" y="2998164"/>
                  </a:lnTo>
                  <a:lnTo>
                    <a:pt x="0" y="2998164"/>
                  </a:lnTo>
                  <a:close/>
                </a:path>
              </a:pathLst>
            </a:custGeom>
            <a:gradFill rotWithShape="true">
              <a:gsLst>
                <a:gs pos="0">
                  <a:srgbClr val="0CC0DF">
                    <a:alpha val="37000"/>
                  </a:srgbClr>
                </a:gs>
                <a:gs pos="100000">
                  <a:srgbClr val="FFDE59">
                    <a:alpha val="3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87678" cy="30362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7765519" cy="8056559"/>
            <a:chOff x="0" y="0"/>
            <a:chExt cx="8074025" cy="8376628"/>
          </a:xfrm>
        </p:grpSpPr>
        <p:sp>
          <p:nvSpPr>
            <p:cNvPr name="Freeform 6" id="6"/>
            <p:cNvSpPr/>
            <p:nvPr/>
          </p:nvSpPr>
          <p:spPr>
            <a:xfrm flipH="false" flipV="tru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8376666"/>
                  </a:moveTo>
                  <a:lnTo>
                    <a:pt x="8074025" y="8376666"/>
                  </a:lnTo>
                  <a:lnTo>
                    <a:pt x="8074025" y="0"/>
                  </a:lnTo>
                  <a:lnTo>
                    <a:pt x="0" y="0"/>
                  </a:lnTo>
                  <a:lnTo>
                    <a:pt x="0" y="8376666"/>
                  </a:lnTo>
                  <a:close/>
                </a:path>
              </a:pathLst>
            </a:custGeom>
            <a:blipFill>
              <a:blip r:embed="rId2"/>
              <a:stretch>
                <a:fillRect l="-2158" t="0" r="-2158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588582" y="1997812"/>
            <a:ext cx="7631084" cy="8229600"/>
          </a:xfrm>
          <a:custGeom>
            <a:avLst/>
            <a:gdLst/>
            <a:ahLst/>
            <a:cxnLst/>
            <a:rect r="r" b="b" t="t" l="l"/>
            <a:pathLst>
              <a:path h="8229600" w="7631084">
                <a:moveTo>
                  <a:pt x="0" y="0"/>
                </a:moveTo>
                <a:lnTo>
                  <a:pt x="7631084" y="0"/>
                </a:lnTo>
                <a:lnTo>
                  <a:pt x="763108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887788" y="162230"/>
            <a:ext cx="13584574" cy="6542002"/>
            <a:chOff x="0" y="0"/>
            <a:chExt cx="18112765" cy="87226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112763" cy="8722664"/>
            </a:xfrm>
            <a:custGeom>
              <a:avLst/>
              <a:gdLst/>
              <a:ahLst/>
              <a:cxnLst/>
              <a:rect r="r" b="b" t="t" l="l"/>
              <a:pathLst>
                <a:path h="8722664" w="18112763">
                  <a:moveTo>
                    <a:pt x="0" y="0"/>
                  </a:moveTo>
                  <a:lnTo>
                    <a:pt x="18112763" y="0"/>
                  </a:lnTo>
                  <a:lnTo>
                    <a:pt x="18112763" y="8722664"/>
                  </a:lnTo>
                  <a:lnTo>
                    <a:pt x="0" y="87226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1429" t="0" r="-11429" b="58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8112765" cy="87321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12600"/>
                </a:lnSpc>
              </a:pPr>
              <a:r>
                <a:rPr lang="en-US" sz="10500">
                  <a:gradFill>
                    <a:gsLst>
                      <a:gs pos="0">
                        <a:srgbClr val="5170FF">
                          <a:alpha val="100000"/>
                        </a:srgbClr>
                      </a:gs>
                      <a:gs pos="100000">
                        <a:srgbClr val="FF66C4">
                          <a:alpha val="100000"/>
                        </a:srgbClr>
                      </a:gs>
                    </a:gsLst>
                    <a:lin ang="0"/>
                  </a:gradFill>
                  <a:latin typeface="Gagalin"/>
                  <a:ea typeface="Gagalin"/>
                  <a:cs typeface="Gagalin"/>
                  <a:sym typeface="Gagalin"/>
                </a:rPr>
                <a:t>File Operations in Python and Program to Count  Line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970414" y="7429699"/>
            <a:ext cx="4347172" cy="182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b="true" sz="3000">
                <a:gradFill>
                  <a:gsLst>
                    <a:gs pos="0">
                      <a:srgbClr val="000000">
                        <a:alpha val="71000"/>
                      </a:srgbClr>
                    </a:gs>
                    <a:gs pos="100000">
                      <a:srgbClr val="3533CD">
                        <a:alpha val="71000"/>
                      </a:srgbClr>
                    </a:gs>
                  </a:gsLst>
                  <a:lin ang="0"/>
                </a:gra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                                   Name:  Avanish borse</a:t>
            </a:r>
          </a:p>
          <a:p>
            <a:pPr algn="r">
              <a:lnSpc>
                <a:spcPts val="3600"/>
              </a:lnSpc>
            </a:pPr>
            <a:r>
              <a:rPr lang="en-US" b="true" sz="3000">
                <a:gradFill>
                  <a:gsLst>
                    <a:gs pos="0">
                      <a:srgbClr val="000000">
                        <a:alpha val="71000"/>
                      </a:srgbClr>
                    </a:gs>
                    <a:gs pos="100000">
                      <a:srgbClr val="3533CD">
                        <a:alpha val="71000"/>
                      </a:srgbClr>
                    </a:gs>
                  </a:gsLst>
                  <a:lin ang="0"/>
                </a:gra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PRN: 202501090134  </a:t>
            </a:r>
          </a:p>
          <a:p>
            <a:pPr algn="ctr">
              <a:lnSpc>
                <a:spcPts val="36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765879" y="1009675"/>
            <a:ext cx="8147640" cy="15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Objectives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9056" y="4014054"/>
            <a:ext cx="15798885" cy="373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85325" indent="-742662" lvl="1">
              <a:lnSpc>
                <a:spcPts val="9848"/>
              </a:lnSpc>
              <a:buFont typeface="Arial"/>
              <a:buChar char="•"/>
            </a:pPr>
            <a:r>
              <a:rPr lang="en-US" sz="8207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Understand file operations</a:t>
            </a:r>
          </a:p>
          <a:p>
            <a:pPr algn="ctr" marL="1485325" indent="-742662" lvl="1">
              <a:lnSpc>
                <a:spcPts val="9848"/>
              </a:lnSpc>
              <a:buFont typeface="Arial"/>
              <a:buChar char="•"/>
            </a:pPr>
            <a:r>
              <a:rPr lang="en-US" sz="8207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Learn open, read, write</a:t>
            </a:r>
          </a:p>
          <a:p>
            <a:pPr algn="ctr" marL="1485325" indent="-742662" lvl="1">
              <a:lnSpc>
                <a:spcPts val="9848"/>
              </a:lnSpc>
              <a:buFont typeface="Arial"/>
              <a:buChar char="•"/>
            </a:pPr>
            <a:r>
              <a:rPr lang="en-US" sz="8207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Count lines in a file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401856" y="759609"/>
            <a:ext cx="948428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6300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What is File Handling?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8361" y="3115570"/>
            <a:ext cx="17436733" cy="4552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802307" indent="-901154" lvl="1">
              <a:lnSpc>
                <a:spcPts val="11950"/>
              </a:lnSpc>
              <a:buFont typeface="Arial"/>
              <a:buChar char="•"/>
            </a:pPr>
            <a:r>
              <a:rPr lang="en-US" b="true" sz="995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Working with files</a:t>
            </a:r>
          </a:p>
          <a:p>
            <a:pPr algn="ctr" marL="1802307" indent="-901154" lvl="1">
              <a:lnSpc>
                <a:spcPts val="11950"/>
              </a:lnSpc>
              <a:buFont typeface="Arial"/>
              <a:buChar char="•"/>
            </a:pPr>
            <a:r>
              <a:rPr lang="en-US" b="true" sz="995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Store data permanently</a:t>
            </a:r>
          </a:p>
          <a:p>
            <a:pPr algn="ctr" marL="1802307" indent="-901154" lvl="1">
              <a:lnSpc>
                <a:spcPts val="11950"/>
              </a:lnSpc>
              <a:buFont typeface="Arial"/>
              <a:buChar char="•"/>
            </a:pPr>
            <a:r>
              <a:rPr lang="en-US" b="true" sz="9958">
                <a:solidFill>
                  <a:srgbClr val="FFFFFF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Read &amp; write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505138" y="762812"/>
            <a:ext cx="11277724" cy="175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79"/>
              </a:lnSpc>
            </a:pPr>
            <a:r>
              <a:rPr lang="en-US" b="true" sz="1164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 Opening a 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809" y="3399180"/>
            <a:ext cx="16496062" cy="4048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08138" indent="-604069" lvl="1">
              <a:lnSpc>
                <a:spcPts val="8010"/>
              </a:lnSpc>
              <a:buFont typeface="Arial"/>
              <a:buChar char="•"/>
            </a:pPr>
            <a:r>
              <a:rPr lang="en-US" sz="667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 = open("data.txt", "r")</a:t>
            </a:r>
          </a:p>
          <a:p>
            <a:pPr algn="ctr" marL="1208138" indent="-604069" lvl="1">
              <a:lnSpc>
                <a:spcPts val="8010"/>
              </a:lnSpc>
              <a:buFont typeface="Arial"/>
              <a:buChar char="•"/>
            </a:pPr>
            <a:r>
              <a:rPr lang="en-US" sz="667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"r" → read mode</a:t>
            </a:r>
          </a:p>
          <a:p>
            <a:pPr algn="ctr" marL="1208138" indent="-604069" lvl="1">
              <a:lnSpc>
                <a:spcPts val="8010"/>
              </a:lnSpc>
              <a:buFont typeface="Arial"/>
              <a:buChar char="•"/>
            </a:pPr>
            <a:r>
              <a:rPr lang="en-US" sz="667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"w" → write mode</a:t>
            </a:r>
          </a:p>
          <a:p>
            <a:pPr algn="ctr" marL="1208138" indent="-604069" lvl="1">
              <a:lnSpc>
                <a:spcPts val="8010"/>
              </a:lnSpc>
              <a:buFont typeface="Arial"/>
              <a:buChar char="•"/>
            </a:pPr>
            <a:r>
              <a:rPr lang="en-US" sz="667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"a" → append mode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181897" y="857250"/>
            <a:ext cx="13924207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8"/>
              </a:lnSpc>
            </a:pPr>
            <a:r>
              <a:rPr lang="en-US" b="true" sz="10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 Reading a 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545240"/>
            <a:ext cx="16230600" cy="240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79"/>
              </a:lnSpc>
            </a:pPr>
            <a:r>
              <a:rPr lang="en-US" sz="789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data = file.read()</a:t>
            </a:r>
          </a:p>
          <a:p>
            <a:pPr algn="ctr">
              <a:lnSpc>
                <a:spcPts val="9479"/>
              </a:lnSpc>
            </a:pPr>
            <a:r>
              <a:rPr lang="en-US" sz="789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print(data)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181897" y="865580"/>
            <a:ext cx="13924207" cy="15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Writing to a 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132" y="3115570"/>
            <a:ext cx="16200168" cy="2447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47805" indent="-723902" lvl="1">
              <a:lnSpc>
                <a:spcPts val="9600"/>
              </a:lnSpc>
              <a:buFont typeface="Arial"/>
              <a:buChar char="•"/>
            </a:pPr>
            <a:r>
              <a:rPr lang="en-US" sz="8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 = open("data.txt", "w")</a:t>
            </a:r>
          </a:p>
          <a:p>
            <a:pPr algn="ctr" marL="1447805" indent="-723902" lvl="1">
              <a:lnSpc>
                <a:spcPts val="9600"/>
              </a:lnSpc>
              <a:buFont typeface="Arial"/>
              <a:buChar char="•"/>
            </a:pPr>
            <a:r>
              <a:rPr lang="en-US" sz="8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file.write("Hello World")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181897" y="685797"/>
            <a:ext cx="13924207" cy="15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Closing a File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04406" y="3345802"/>
            <a:ext cx="9879188" cy="1317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564546" indent="-782273" lvl="1">
              <a:lnSpc>
                <a:spcPts val="10374"/>
              </a:lnSpc>
              <a:buFont typeface="Arial"/>
              <a:buChar char="•"/>
            </a:pPr>
            <a:r>
              <a:rPr lang="en-US" sz="8645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file.close()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44542" y="865580"/>
            <a:ext cx="16398916" cy="15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Program to Count Lines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9142" y="3125095"/>
            <a:ext cx="16414378" cy="601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 = open("data.txt", "r")</a:t>
            </a:r>
          </a:p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count = 0</a:t>
            </a:r>
          </a:p>
          <a:p>
            <a:pPr algn="ctr" marL="896029" indent="-448014" lvl="1">
              <a:lnSpc>
                <a:spcPts val="5941"/>
              </a:lnSpc>
            </a:pPr>
          </a:p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for line in file:</a:t>
            </a:r>
          </a:p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  count += 1</a:t>
            </a:r>
          </a:p>
          <a:p>
            <a:pPr algn="ctr" marL="896029" indent="-448014" lvl="1">
              <a:lnSpc>
                <a:spcPts val="5941"/>
              </a:lnSpc>
            </a:pPr>
          </a:p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print("Number of lines:", count)</a:t>
            </a:r>
          </a:p>
          <a:p>
            <a:pPr algn="ctr" marL="896029" indent="-448014" lvl="1">
              <a:lnSpc>
                <a:spcPts val="5941"/>
              </a:lnSpc>
              <a:buFont typeface="Arial"/>
              <a:buChar char="•"/>
            </a:pPr>
            <a:r>
              <a:rPr lang="en-US" sz="4951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file.close()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475" r="-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3" b="-30412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60609" y="734320"/>
            <a:ext cx="16082010" cy="15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2315" y="3109848"/>
            <a:ext cx="16883370" cy="12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447805" indent="-723902" lvl="1">
              <a:lnSpc>
                <a:spcPts val="9600"/>
              </a:lnSpc>
              <a:buFont typeface="Arial"/>
              <a:buChar char="•"/>
            </a:pPr>
            <a:r>
              <a:rPr lang="en-US" sz="8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Number of lines: 5 (example)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5376" t="0" r="0" b="-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475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3041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32915" y="1028700"/>
            <a:ext cx="7222169" cy="158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14"/>
              </a:lnSpc>
            </a:pPr>
            <a:r>
              <a:rPr lang="en-US" b="true" sz="10428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Playfair Display Ultra-Bold"/>
                <a:ea typeface="Playfair Display Ultra-Bold"/>
                <a:cs typeface="Playfair Display Ultra-Bold"/>
                <a:sym typeface="Playfair Display Ultra-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76319" y="4338523"/>
            <a:ext cx="21182183" cy="943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56294" indent="-578147" lvl="1">
              <a:lnSpc>
                <a:spcPts val="7667"/>
              </a:lnSpc>
              <a:buFont typeface="Arial"/>
              <a:buChar char="•"/>
            </a:pPr>
            <a:r>
              <a:rPr lang="en-US" sz="63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File handling is useful</a:t>
            </a:r>
          </a:p>
          <a:p>
            <a:pPr algn="l" marL="1156294" indent="-578147" lvl="1">
              <a:lnSpc>
                <a:spcPts val="7667"/>
              </a:lnSpc>
              <a:buFont typeface="Arial"/>
              <a:buChar char="•"/>
            </a:pPr>
            <a:r>
              <a:rPr lang="en-US" sz="63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Easy to read/write files</a:t>
            </a:r>
          </a:p>
          <a:p>
            <a:pPr algn="l" marL="1156294" indent="-578147" lvl="1">
              <a:lnSpc>
                <a:spcPts val="7667"/>
              </a:lnSpc>
              <a:buFont typeface="Arial"/>
              <a:buChar char="•"/>
            </a:pPr>
            <a:r>
              <a:rPr lang="en-US" sz="6389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Helps manage data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004529"/>
            <a:ext cx="6055519" cy="6282471"/>
            <a:chOff x="0" y="0"/>
            <a:chExt cx="8074025" cy="83766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74025" cy="8376666"/>
            </a:xfrm>
            <a:custGeom>
              <a:avLst/>
              <a:gdLst/>
              <a:ahLst/>
              <a:cxnLst/>
              <a:rect r="r" b="b" t="t" l="l"/>
              <a:pathLst>
                <a:path h="8376666" w="8074025">
                  <a:moveTo>
                    <a:pt x="0" y="0"/>
                  </a:moveTo>
                  <a:lnTo>
                    <a:pt x="8074025" y="0"/>
                  </a:lnTo>
                  <a:lnTo>
                    <a:pt x="8074025" y="8376666"/>
                  </a:lnTo>
                  <a:lnTo>
                    <a:pt x="0" y="8376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48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338523"/>
            <a:ext cx="2283619" cy="3548177"/>
            <a:chOff x="0" y="0"/>
            <a:chExt cx="3044825" cy="47309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44825" cy="4730877"/>
            </a:xfrm>
            <a:custGeom>
              <a:avLst/>
              <a:gdLst/>
              <a:ahLst/>
              <a:cxnLst/>
              <a:rect r="r" b="b" t="t" l="l"/>
              <a:pathLst>
                <a:path h="4730877" w="3044825">
                  <a:moveTo>
                    <a:pt x="0" y="0"/>
                  </a:moveTo>
                  <a:lnTo>
                    <a:pt x="3044825" y="0"/>
                  </a:lnTo>
                  <a:lnTo>
                    <a:pt x="3044825" y="4730877"/>
                  </a:lnTo>
                  <a:lnTo>
                    <a:pt x="0" y="47308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376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913519" y="2514600"/>
            <a:ext cx="4229100" cy="4229100"/>
            <a:chOff x="0" y="0"/>
            <a:chExt cx="5638800" cy="563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38800" cy="5638800"/>
            </a:xfrm>
            <a:custGeom>
              <a:avLst/>
              <a:gdLst/>
              <a:ahLst/>
              <a:cxnLst/>
              <a:rect r="r" b="b" t="t" l="l"/>
              <a:pathLst>
                <a:path h="5638800" w="5638800">
                  <a:moveTo>
                    <a:pt x="0" y="2819400"/>
                  </a:moveTo>
                  <a:cubicBezTo>
                    <a:pt x="0" y="1262253"/>
                    <a:pt x="1262253" y="0"/>
                    <a:pt x="2819400" y="0"/>
                  </a:cubicBezTo>
                  <a:cubicBezTo>
                    <a:pt x="4376547" y="0"/>
                    <a:pt x="5638800" y="1262253"/>
                    <a:pt x="5638800" y="2819400"/>
                  </a:cubicBezTo>
                  <a:cubicBezTo>
                    <a:pt x="5638800" y="4376547"/>
                    <a:pt x="4376547" y="5638800"/>
                    <a:pt x="2819400" y="5638800"/>
                  </a:cubicBezTo>
                  <a:cubicBezTo>
                    <a:pt x="1262253" y="5638800"/>
                    <a:pt x="0" y="4376547"/>
                    <a:pt x="0" y="281940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7AC4F0">
                    <a:alpha val="7000"/>
                  </a:srgbClr>
                </a:gs>
                <a:gs pos="36000">
                  <a:srgbClr val="7AC4F0">
                    <a:alpha val="0"/>
                  </a:srgbClr>
                </a:gs>
                <a:gs pos="69000">
                  <a:srgbClr val="7AC4F0">
                    <a:alpha val="6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366307" y="-482482"/>
            <a:ext cx="10376170" cy="8229600"/>
          </a:xfrm>
          <a:custGeom>
            <a:avLst/>
            <a:gdLst/>
            <a:ahLst/>
            <a:cxnLst/>
            <a:rect r="r" b="b" t="t" l="l"/>
            <a:pathLst>
              <a:path h="8229600" w="10376170">
                <a:moveTo>
                  <a:pt x="0" y="0"/>
                </a:moveTo>
                <a:lnTo>
                  <a:pt x="10376171" y="0"/>
                </a:lnTo>
                <a:lnTo>
                  <a:pt x="1037617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99119" y="0"/>
            <a:ext cx="2405082" cy="1712109"/>
            <a:chOff x="0" y="0"/>
            <a:chExt cx="3206775" cy="228281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06750" cy="2282825"/>
            </a:xfrm>
            <a:custGeom>
              <a:avLst/>
              <a:gdLst/>
              <a:ahLst/>
              <a:cxnLst/>
              <a:rect r="r" b="b" t="t" l="l"/>
              <a:pathLst>
                <a:path h="2282825" w="3206750">
                  <a:moveTo>
                    <a:pt x="0" y="0"/>
                  </a:moveTo>
                  <a:lnTo>
                    <a:pt x="3206750" y="0"/>
                  </a:lnTo>
                  <a:lnTo>
                    <a:pt x="3206750" y="2282825"/>
                  </a:lnTo>
                  <a:lnTo>
                    <a:pt x="0" y="22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0475" r="-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913519" y="9144000"/>
            <a:ext cx="1490605" cy="1143000"/>
            <a:chOff x="0" y="0"/>
            <a:chExt cx="1987474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87423" cy="1524000"/>
            </a:xfrm>
            <a:custGeom>
              <a:avLst/>
              <a:gdLst/>
              <a:ahLst/>
              <a:cxnLst/>
              <a:rect r="r" b="b" t="t" l="l"/>
              <a:pathLst>
                <a:path h="1524000" w="1987423">
                  <a:moveTo>
                    <a:pt x="0" y="0"/>
                  </a:moveTo>
                  <a:lnTo>
                    <a:pt x="1987423" y="0"/>
                  </a:lnTo>
                  <a:lnTo>
                    <a:pt x="1987423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3041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174760" y="3622793"/>
            <a:ext cx="9938481" cy="2003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97"/>
              </a:lnSpc>
            </a:pPr>
            <a:r>
              <a:rPr lang="en-US" sz="13081">
                <a:solidFill>
                  <a:srgbClr val="FF751F"/>
                </a:solidFill>
                <a:latin typeface="Rubik Dirt"/>
                <a:ea typeface="Rubik Dirt"/>
                <a:cs typeface="Rubik Dirt"/>
                <a:sym typeface="Rubik Dir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DAHFTbVGc9Q</dc:identifier>
  <dcterms:modified xsi:type="dcterms:W3CDTF">2011-08-01T06:04:30Z</dcterms:modified>
  <cp:revision>1</cp:revision>
  <dc:title>By: Avnish borse</dc:title>
</cp:coreProperties>
</file>